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89e86845274a1d" /><Relationship Type="http://schemas.openxmlformats.org/officeDocument/2006/relationships/extended-properties" Target="/docProps/app.xml" Id="R53846003079d480f" /><Relationship Type="http://schemas.openxmlformats.org/officeDocument/2006/relationships/officeDocument" Target="/ppt/presentation.xml" Id="Rab1f1641dcf6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8316357664274"/>
  </p:sldMasterIdLst>
  <p:notesMasterIdLst>
    <p:notesMasterId xmlns:r="http://schemas.openxmlformats.org/officeDocument/2006/relationships" r:id="R8bc380fd7f114f48"/>
  </p:notesMasterIdLst>
  <p:sldIdLst>
    <p:sldId xmlns:r="http://schemas.openxmlformats.org/officeDocument/2006/relationships" id="256" r:id="Red4717842bcf4433"/>
    <p:sldId xmlns:r="http://schemas.openxmlformats.org/officeDocument/2006/relationships" id="257" r:id="R4180ee836c6e4f2b"/>
    <p:sldId xmlns:r="http://schemas.openxmlformats.org/officeDocument/2006/relationships" id="258" r:id="Ree25e083242f4e46"/>
    <p:sldId xmlns:r="http://schemas.openxmlformats.org/officeDocument/2006/relationships" id="259" r:id="Ra36087bcb44d436e"/>
    <p:sldId xmlns:r="http://schemas.openxmlformats.org/officeDocument/2006/relationships" id="260" r:id="R4896b6f8769d41cd"/>
    <p:sldId xmlns:r="http://schemas.openxmlformats.org/officeDocument/2006/relationships" id="261" r:id="R45c5732c137e4344"/>
    <p:sldId xmlns:r="http://schemas.openxmlformats.org/officeDocument/2006/relationships" id="262" r:id="R26e3b8eaffb246e9"/>
    <p:sldId xmlns:r="http://schemas.openxmlformats.org/officeDocument/2006/relationships" id="263" r:id="R2d9c4f5cdd0c4212"/>
  </p:sldIdLst>
  <p:sldSz cx="12380595" cy="743077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ca5dd038d453b" /><Relationship Type="http://schemas.openxmlformats.org/officeDocument/2006/relationships/slideMaster" Target="/ppt/slideMasters/slideMaster1.xml" Id="R8898316357664274" /><Relationship Type="http://schemas.openxmlformats.org/officeDocument/2006/relationships/notesMaster" Target="/ppt/notesMasters/notesMaster1.xml" Id="R8bc380fd7f114f48" /><Relationship Type="http://schemas.openxmlformats.org/officeDocument/2006/relationships/presProps" Target="/ppt/presProps.xml" Id="R8c1e9b1d61fb4bc4" /><Relationship Type="http://schemas.openxmlformats.org/officeDocument/2006/relationships/viewProps" Target="/ppt/viewProps.xml" Id="R7770efd1e32d45fa" /><Relationship Type="http://schemas.openxmlformats.org/officeDocument/2006/relationships/tableStyles" Target="/ppt/tableStyles.xml" Id="Rd2778f3bdbb8466a" /><Relationship Type="http://schemas.openxmlformats.org/officeDocument/2006/relationships/slide" Target="/ppt/slides/slide1.xml" Id="Red4717842bcf4433" /><Relationship Type="http://schemas.openxmlformats.org/officeDocument/2006/relationships/slide" Target="/ppt/slides/slide2.xml" Id="R4180ee836c6e4f2b" /><Relationship Type="http://schemas.openxmlformats.org/officeDocument/2006/relationships/slide" Target="/ppt/slides/slide3.xml" Id="Ree25e083242f4e46" /><Relationship Type="http://schemas.openxmlformats.org/officeDocument/2006/relationships/slide" Target="/ppt/slides/slide4.xml" Id="Ra36087bcb44d436e" /><Relationship Type="http://schemas.openxmlformats.org/officeDocument/2006/relationships/slide" Target="/ppt/slides/slide5.xml" Id="R4896b6f8769d41cd" /><Relationship Type="http://schemas.openxmlformats.org/officeDocument/2006/relationships/slide" Target="/ppt/slides/slide6.xml" Id="R45c5732c137e4344" /><Relationship Type="http://schemas.openxmlformats.org/officeDocument/2006/relationships/slide" Target="/ppt/slides/slide7.xml" Id="R26e3b8eaffb246e9" /><Relationship Type="http://schemas.openxmlformats.org/officeDocument/2006/relationships/slide" Target="/ppt/slides/slide8.xml" Id="R2d9c4f5cdd0c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60088622b7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05000"/>
                <a:satMod val="110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9000"/>
                <a:sat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4000"/>
                <a:lumMod val="102000"/>
                <a:satMod val="103000"/>
              </a:schemeClr>
            </a:gs>
            <a:gs pos="50000">
              <a:schemeClr val="phClr">
                <a:tint val="100000"/>
                <a:lumMod val="110000"/>
                <a:satMod val="10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16c345707424d" /><Relationship Type="http://schemas.openxmlformats.org/officeDocument/2006/relationships/notesMaster" Target="/ppt/notesMasters/notesMaster1.xml" Id="R94cb0cf15b254d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332b3663547f9" /><Relationship Type="http://schemas.openxmlformats.org/officeDocument/2006/relationships/notesMaster" Target="/ppt/notesMasters/notesMaster1.xml" Id="R4fa5e1a1e0bb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a71bcec304e39" /><Relationship Type="http://schemas.openxmlformats.org/officeDocument/2006/relationships/notesMaster" Target="/ppt/notesMasters/notesMaster1.xml" Id="R60fa56d56b9546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736b1f131043d2" /><Relationship Type="http://schemas.openxmlformats.org/officeDocument/2006/relationships/notesMaster" Target="/ppt/notesMasters/notesMaster1.xml" Id="R325d529dc7b244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138dcad184cf3" /><Relationship Type="http://schemas.openxmlformats.org/officeDocument/2006/relationships/notesMaster" Target="/ppt/notesMasters/notesMaster1.xml" Id="R1934c96c27ae4b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b3d4ad2ca4640" /><Relationship Type="http://schemas.openxmlformats.org/officeDocument/2006/relationships/notesMaster" Target="/ppt/notesMasters/notesMaster1.xml" Id="R30e4a71fc5ac44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7601321ff04326" /><Relationship Type="http://schemas.openxmlformats.org/officeDocument/2006/relationships/notesMaster" Target="/ppt/notesMasters/notesMaster1.xml" Id="R11e2e3818dff44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ccf9240bc84655" /><Relationship Type="http://schemas.openxmlformats.org/officeDocument/2006/relationships/notesMaster" Target="/ppt/notesMasters/notesMaster1.xml" Id="Re4980366a81241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各位评委老师好，我们汇报的是禾诊——农作物缺素症识别与科学施肥建议智能体。项目面向农户看不清缺素类型、容易盲目施肥的问题，用本地知识库 RAG 完成从症状输入到施肥建议的完整闭环。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需求可以拆成三个问题：识别难、依据弱、建议难落地。我们的目标不是做一个聊天窗口，而是让候选结果有证据、施肥建议有边界、演示过程不依赖外网。资料依据：课程需求文档与项目知识库。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系统采用前后端分离。前端把作物、部位、症状和环境发给 Spring Boot；智能体先做文本结构化，再检索本地 JSON 知识库，输出候选、证据、风险和施肥模板。Spring AI 与 LangChain4j 是可扩展能力，断网时核心链路仍然完整。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系统真实运行页面，不是效果图。输入水稻下部老叶发黄、植株矮小、分蘖减少，系统返回缺氮为首要候选，同时给出磷、镁等次候选。右侧可以看到风险分级和四类施肥建议，底部保留证据与来源。测试证据来自 7 个自动化测试和浏览器端到端冒烟测试。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五人团队按时间盒并行推进。队长保证后端主链路，知识与数据同学负责证据和来源，前端负责结果可视化，测试同学负责打包与浏览器验收，答辩同学负责 PPT 和计时。现场 60 分钟内，40 分钟前必须跑通主流程，50 分钟冻结代码。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我们的创新点不是追求功能堆叠，而是围绕可信和可演示做三件事：第一，候选结果有本地证据；第二，风险预警结合土壤、环境和生育期；第三，知识库可以通过 JSON 热重载。右侧对比表强调断网可用、结果可解释和 7 个自动化测试。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清楚系统边界：知识库仍需扩充，图片识别和多轮对话还不是默认能力，施肥建议不能替代测土配方。下一步会从图像辅助、知识库扩容和风险模型三个方向继续完善，但始终保留本地可解释、可离线演示的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以上就是禾诊项目的汇报。我们希望用本地知识库和可解释检索，把 AI 真正落到科学施肥这个具体场景里。感谢各位评委老师，欢迎提问。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05a05b86c477c" /></Relationships>
</file>

<file path=ppt/slideLayouts/slideLayout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f5fdde0b449fd" /><Relationship Type="http://schemas.openxmlformats.org/officeDocument/2006/relationships/slideLayout" Target="/ppt/slideLayouts/slideLayout1.xml" Id="R56e39b00d9504b4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39b00d9504b4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05000"/>
                <a:satMod val="110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9000"/>
                <a:sat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4000"/>
                <a:lumMod val="102000"/>
                <a:satMod val="103000"/>
              </a:schemeClr>
            </a:gs>
            <a:gs pos="50000">
              <a:schemeClr val="phClr">
                <a:tint val="100000"/>
                <a:lumMod val="110000"/>
                <a:satMod val="10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1f58826794da0" /><Relationship Type="http://schemas.openxmlformats.org/officeDocument/2006/relationships/image" Target="/ppt/media/image.png" Id="R8c440fa4c0924aae" /><Relationship Type="http://schemas.openxmlformats.org/officeDocument/2006/relationships/image" Target="/ppt/media/image2.png" Id="Recf986826d934ffd" /><Relationship Type="http://schemas.openxmlformats.org/officeDocument/2006/relationships/image" Target="/ppt/media/image.jpeg" Id="R8a0ac70c8b594d49" /><Relationship Type="http://schemas.openxmlformats.org/officeDocument/2006/relationships/image" Target="/ppt/media/image3.png" Id="R88bc7c5ba5684c45" /><Relationship Type="http://schemas.openxmlformats.org/officeDocument/2006/relationships/image" Target="/ppt/media/image4.png" Id="R2ab8d7f7335e47db" /><Relationship Type="http://schemas.openxmlformats.org/officeDocument/2006/relationships/notesSlide" Target="/ppt/notesSlides/notesSlide1.xml" Id="R75ba50e9c82447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dafa72f03445e" /><Relationship Type="http://schemas.openxmlformats.org/officeDocument/2006/relationships/image" Target="/ppt/media/image5.png" Id="Ra20f73ff94fd4940" /><Relationship Type="http://schemas.openxmlformats.org/officeDocument/2006/relationships/image" Target="/ppt/media/image6.png" Id="Rcaa681836e374fef" /><Relationship Type="http://schemas.openxmlformats.org/officeDocument/2006/relationships/image" Target="/ppt/media/image7.png" Id="R7bb1bea472f14ae5" /><Relationship Type="http://schemas.openxmlformats.org/officeDocument/2006/relationships/image" Target="/ppt/media/image8.png" Id="Rb4bb908c38d0477f" /><Relationship Type="http://schemas.openxmlformats.org/officeDocument/2006/relationships/image" Target="/ppt/media/image9.png" Id="R58489eaacf0f4c21" /><Relationship Type="http://schemas.openxmlformats.org/officeDocument/2006/relationships/image" Target="/ppt/media/image10.png" Id="Reb7f3a7b48a946db" /><Relationship Type="http://schemas.openxmlformats.org/officeDocument/2006/relationships/image" Target="/ppt/media/image11.png" Id="R9bae8fb7d7414e1f" /><Relationship Type="http://schemas.openxmlformats.org/officeDocument/2006/relationships/image" Target="/ppt/media/image12.png" Id="Ref86070240a84642" /><Relationship Type="http://schemas.openxmlformats.org/officeDocument/2006/relationships/image" Target="/ppt/media/image13.png" Id="Read5acdfd85f463b" /><Relationship Type="http://schemas.openxmlformats.org/officeDocument/2006/relationships/image" Target="/ppt/media/image14.png" Id="R1dbd72e17ffb4355" /><Relationship Type="http://schemas.openxmlformats.org/officeDocument/2006/relationships/notesSlide" Target="/ppt/notesSlides/notesSlide2.xml" Id="R5c84eb47c62d48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1a97032ef4f57" /><Relationship Type="http://schemas.openxmlformats.org/officeDocument/2006/relationships/image" Target="/ppt/media/image15.png" Id="Rf6bde9078616412b" /><Relationship Type="http://schemas.openxmlformats.org/officeDocument/2006/relationships/image" Target="/ppt/media/image16.png" Id="R6bc50a708d8a429b" /><Relationship Type="http://schemas.openxmlformats.org/officeDocument/2006/relationships/image" Target="/ppt/media/image17.png" Id="R92d0491f0ee8470f" /><Relationship Type="http://schemas.openxmlformats.org/officeDocument/2006/relationships/image" Target="/ppt/media/image18.png" Id="R0db5c90d18444963" /><Relationship Type="http://schemas.openxmlformats.org/officeDocument/2006/relationships/notesSlide" Target="/ppt/notesSlides/notesSlide3.xml" Id="Rdb4df76cc14d4e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a46d40a4947d8" /><Relationship Type="http://schemas.openxmlformats.org/officeDocument/2006/relationships/image" Target="/ppt/media/image18.png" Id="Rf0b290c088804664" /><Relationship Type="http://schemas.openxmlformats.org/officeDocument/2006/relationships/image" Target="/ppt/media/image19.png" Id="R40665de73eee4e35" /><Relationship Type="http://schemas.openxmlformats.org/officeDocument/2006/relationships/image" Target="/ppt/media/image20.png" Id="R1328e086603d47e1" /><Relationship Type="http://schemas.openxmlformats.org/officeDocument/2006/relationships/image" Target="/ppt/media/image21.png" Id="Rc7478b3980284f0b" /><Relationship Type="http://schemas.openxmlformats.org/officeDocument/2006/relationships/notesSlide" Target="/ppt/notesSlides/notesSlide4.xml" Id="R6e539d526cac46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ea6750f0242a7" /><Relationship Type="http://schemas.openxmlformats.org/officeDocument/2006/relationships/image" Target="/ppt/media/image22.png" Id="R5d38cdd7fa1847e2" /><Relationship Type="http://schemas.openxmlformats.org/officeDocument/2006/relationships/image" Target="/ppt/media/image23.png" Id="Rfb03e91fc65a4c53" /><Relationship Type="http://schemas.openxmlformats.org/officeDocument/2006/relationships/image" Target="/ppt/media/image24.png" Id="Rfefb39221c454fe0" /><Relationship Type="http://schemas.openxmlformats.org/officeDocument/2006/relationships/image" Target="/ppt/media/image25.png" Id="R89c0cdb8c52a4fc1" /><Relationship Type="http://schemas.openxmlformats.org/officeDocument/2006/relationships/image" Target="/ppt/media/image26.png" Id="Rd6b009e8a4e64808" /><Relationship Type="http://schemas.openxmlformats.org/officeDocument/2006/relationships/image" Target="/ppt/media/image27.png" Id="R8ee4b75824264105" /><Relationship Type="http://schemas.openxmlformats.org/officeDocument/2006/relationships/image" Target="/ppt/media/image28.png" Id="R813112e42d174827" /><Relationship Type="http://schemas.openxmlformats.org/officeDocument/2006/relationships/image" Target="/ppt/media/image29.png" Id="R91a9ad2a2095478b" /><Relationship Type="http://schemas.openxmlformats.org/officeDocument/2006/relationships/image" Target="/ppt/media/image20.png" Id="R645551241f5c410b" /><Relationship Type="http://schemas.openxmlformats.org/officeDocument/2006/relationships/image" Target="/ppt/media/image30.png" Id="Rd31796ae899b4991" /><Relationship Type="http://schemas.openxmlformats.org/officeDocument/2006/relationships/notesSlide" Target="/ppt/notesSlides/notesSlide5.xml" Id="R31052bcf83f54f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ae43f247d43aa" /><Relationship Type="http://schemas.openxmlformats.org/officeDocument/2006/relationships/image" Target="/ppt/media/image18.png" Id="R7969013820384b53" /><Relationship Type="http://schemas.openxmlformats.org/officeDocument/2006/relationships/image" Target="/ppt/media/image31.png" Id="Reb67a91168324b5a" /><Relationship Type="http://schemas.openxmlformats.org/officeDocument/2006/relationships/image" Target="/ppt/media/image32.png" Id="R6f129596105b4385" /><Relationship Type="http://schemas.openxmlformats.org/officeDocument/2006/relationships/image" Target="/ppt/media/image33.png" Id="Rad6bf82f4b7b41a6" /><Relationship Type="http://schemas.openxmlformats.org/officeDocument/2006/relationships/image" Target="/ppt/media/image34.png" Id="R449eab5559ed4fd5" /><Relationship Type="http://schemas.openxmlformats.org/officeDocument/2006/relationships/image" Target="/ppt/media/image20.png" Id="R6f5ab7c210724357" /><Relationship Type="http://schemas.openxmlformats.org/officeDocument/2006/relationships/image" Target="/ppt/media/image35.png" Id="Rfae012fb195c4c6e" /><Relationship Type="http://schemas.openxmlformats.org/officeDocument/2006/relationships/notesSlide" Target="/ppt/notesSlides/notesSlide6.xml" Id="R12abb0b0eefc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77e64403043e0" /><Relationship Type="http://schemas.openxmlformats.org/officeDocument/2006/relationships/image" Target="/ppt/media/image36.png" Id="R04f04397f0bf46f2" /><Relationship Type="http://schemas.openxmlformats.org/officeDocument/2006/relationships/image" Target="/ppt/media/image37.png" Id="Rca8ac27519c2458b" /><Relationship Type="http://schemas.openxmlformats.org/officeDocument/2006/relationships/image" Target="/ppt/media/image6.png" Id="R169aa1b8ded24418" /><Relationship Type="http://schemas.openxmlformats.org/officeDocument/2006/relationships/image" Target="/ppt/media/image38.png" Id="R88fbf6d99d424038" /><Relationship Type="http://schemas.openxmlformats.org/officeDocument/2006/relationships/notesSlide" Target="/ppt/notesSlides/notesSlide7.xml" Id="R1d426d23ec7346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14233cff44591" /><Relationship Type="http://schemas.openxmlformats.org/officeDocument/2006/relationships/image" Target="/ppt/media/image39.png" Id="Re688127d2bfc4516" /><Relationship Type="http://schemas.openxmlformats.org/officeDocument/2006/relationships/image" Target="/ppt/media/image40.png" Id="R92eac732743b4641" /><Relationship Type="http://schemas.openxmlformats.org/officeDocument/2006/relationships/image" Target="/ppt/media/image41.png" Id="Rd7dee7d45b9e43f7" /><Relationship Type="http://schemas.openxmlformats.org/officeDocument/2006/relationships/image" Target="/ppt/media/image42.png" Id="Rd67c811c505b4c27" /><Relationship Type="http://schemas.openxmlformats.org/officeDocument/2006/relationships/image" Target="/ppt/media/image43.png" Id="R4975d4624b304eaf" /><Relationship Type="http://schemas.openxmlformats.org/officeDocument/2006/relationships/image" Target="/ppt/media/image44.png" Id="Rbc25cb61e13346df" /><Relationship Type="http://schemas.openxmlformats.org/officeDocument/2006/relationships/image" Target="/ppt/media/image45.png" Id="R1457800d6da34982" /><Relationship Type="http://schemas.openxmlformats.org/officeDocument/2006/relationships/image" Target="/ppt/media/image18.png" Id="Rb8bca9fa67204d98" /><Relationship Type="http://schemas.openxmlformats.org/officeDocument/2006/relationships/notesSlide" Target="/ppt/notesSlides/notesSlide8.xml" Id="R61ad81f3711c49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 2">
            <a:extLst xmlns:a="http://schemas.openxmlformats.org/drawingml/2006/main">
              <a:ext uri="{FF2B5EF4-FFF2-40B4-BE49-F238E27FC236}">
                <a16:creationId xmlns:a16="http://schemas.microsoft.com/office/drawing/2014/main" id="{70DE370D-CF7E-43C5-AF96-C5CB4A1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85"/>
            <a:ext cx="12381230" cy="7372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40fa4c0924a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350000" y="57911"/>
            <a:ext cx="4381500" cy="42545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986826d934f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8667750" y="2058161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A292469-26F5-4195-8FBB-9DE4EC6E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农作物缺素症识别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与科学施肥建议智能体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0136D24-6CCF-49E0-9290-5E6F4C16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66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OHCP 课程编程赛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·  PROJECT DEFENSE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ac70c8b594d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50" y="2353436"/>
            <a:ext cx="381000" cy="19050"/>
          </a:xfrm>
          <a:prstGeom xmlns:a="http://schemas.openxmlformats.org/drawingml/2006/main" prst="rect">
            <a:avLst/>
          </a:prstGeom>
        </p:spPr>
      </p:pic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E9E734-03EB-44A3-A11F-8D400615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148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第五组 · 五人团队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692BE4D-FB1A-42E0-A780-077ECB30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2026年10月21日</a:t>
            </a:r>
          </a:p>
        </p:txBody>
      </p:sp>
      <p:pic>
        <p:nvPicPr>
          <p:cNvPr id="3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c7c5ba5684c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285750" y="6620636"/>
            <a:ext cx="1428750" cy="95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8d7f7335e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285750" y="5201411"/>
            <a:ext cx="9525" cy="1428750"/>
          </a:xfrm>
          <a:prstGeom xmlns:a="http://schemas.openxmlformats.org/drawingml/2006/main" prst="rect">
            <a:avLst/>
          </a:prstGeom>
        </p:spPr>
      </p:pic>
      <p:pic>
        <p:nvPicPr>
          <p:cNvPr id="4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c7c5ba5684c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10477500" y="343661"/>
            <a:ext cx="1428750" cy="9525"/>
          </a:xfrm>
          <a:prstGeom xmlns:a="http://schemas.openxmlformats.org/drawingml/2006/main" prst="rect">
            <a:avLst/>
          </a:prstGeom>
        </p:spPr>
      </p:pic>
      <p:pic>
        <p:nvPicPr>
          <p:cNvPr id="41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8d7f7335e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11896725" y="343661"/>
            <a:ext cx="9525" cy="14287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37907-BC07-4EB5-B1D5-1194EA33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57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本地 RAG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·  可解释证据  ·  可离线演示</a:t>
            </a:r>
          </a:p>
        </p:txBody>
      </p:sp>
    </p:spTree>
    <p:extLst>
      <p:ext uri="{BB962C8B-B14F-4D97-AF65-F5344CB8AC3E}">
        <p14:creationId xmlns:p14="http://schemas.microsoft.com/office/powerpoint/2010/main" val="6792133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 30">
            <a:extLst xmlns:a="http://schemas.openxmlformats.org/drawingml/2006/main">
              <a:ext uri="{FF2B5EF4-FFF2-40B4-BE49-F238E27FC236}">
                <a16:creationId xmlns:a16="http://schemas.microsoft.com/office/drawing/2014/main" id="{0540C110-0EF6-4F60-8AA9-EBFBFBE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0"/>
            <a:ext cx="13047345" cy="7431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83E1ABED-F041-4E87-8B63-AA783ECE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99" y="1140904"/>
            <a:ext cx="10871200" cy="207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9000"/>
              </a:lnSpc>
              <a:buNone/>
            </a:pP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80000"/>
              </a:lnSpc>
              <a:buNone/>
            </a:pPr>
            <a:r>
              <a:rPr sz="1200" spc="1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REQUIREMENTS</a:t>
            </a:r>
            <a:r>
              <a:rPr sz="1200" spc="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spc="1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UNDERSTANDIN</a:t>
            </a:r>
            <a:r>
              <a:rPr sz="1200" spc="10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1200" spc="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200" spc="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</a:t>
            </a:r>
            <a:r>
              <a:rPr sz="1500" spc="100">
                <a:solidFill>
                  <a:srgbClr val="37DCF2">
                    <a:alpha val="80000"/>
                  </a:srgbClr>
                </a:solidFill>
                <a:latin typeface="Arial"/>
                <a:ea typeface="Arial"/>
                <a:cs typeface="Arial"/>
              </a:rPr>
              <a:t>02 / 08</a:t>
            </a:r>
            <a:endParaRPr sz="1500">
              <a:latin typeface="Arial"/>
              <a:ea typeface="Arial"/>
              <a:cs typeface="Arial"/>
            </a:endParaRPr>
          </a:p>
        </p:txBody>
      </p:sp>
      <p:pic>
        <p:nvPicPr>
          <p:cNvPr id="75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f73ff94fd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27" y="262328"/>
            <a:ext cx="1499814" cy="373558"/>
          </a:xfrm>
          <a:prstGeom xmlns:a="http://schemas.openxmlformats.org/drawingml/2006/main" prst="rect">
            <a:avLst/>
          </a:prstGeom>
        </p:spPr>
      </p:pic>
      <p:pic>
        <p:nvPicPr>
          <p:cNvPr id="7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681836e374f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50" y="1590675"/>
            <a:ext cx="10858500" cy="9525"/>
          </a:xfrm>
          <a:prstGeom xmlns:a="http://schemas.openxmlformats.org/drawingml/2006/main" prst="rect">
            <a:avLst/>
          </a:prstGeom>
        </p:spPr>
      </p:pic>
      <p:pic>
        <p:nvPicPr>
          <p:cNvPr id="77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1bea472f1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61390" y="242887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78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b908c38d0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61390" y="338137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79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89eaacf0f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61390" y="4333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textbox 50">
            <a:extLst xmlns:a="http://schemas.openxmlformats.org/drawingml/2006/main">
              <a:ext uri="{FF2B5EF4-FFF2-40B4-BE49-F238E27FC236}">
                <a16:creationId xmlns:a16="http://schemas.microsoft.com/office/drawing/2014/main" id="{3DDACA1E-5472-4F32-A909-C15F0C2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" y="1929256"/>
            <a:ext cx="4627245" cy="290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题目解构与背景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识别门槛高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农户看到黄叶、焦边、矮小时，难以判断是缺氮、缺钾还是缺铁。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缺少可信依据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直接让大模型作答不可追溯，断网或没有密钥时也无法稳定演示。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建议必须能落地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施肥方案要同时覆盖农艺、有机肥、化学追施和安全减量。</a:t>
            </a:r>
          </a:p>
        </p:txBody>
      </p:sp>
      <p:pic>
        <p:nvPicPr>
          <p:cNvPr id="81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f3a7b48a946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585902" y="3157537"/>
            <a:ext cx="219075" cy="219075"/>
          </a:xfrm>
          <a:prstGeom xmlns:a="http://schemas.openxmlformats.org/drawingml/2006/main" prst="rect">
            <a:avLst/>
          </a:prstGeom>
        </p:spPr>
      </p:pic>
      <p:pic>
        <p:nvPicPr>
          <p:cNvPr id="82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8fb7d741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581140" y="2428875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83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8fb7d741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581140" y="38766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textbox 64">
            <a:extLst xmlns:a="http://schemas.openxmlformats.org/drawingml/2006/main">
              <a:ext uri="{FF2B5EF4-FFF2-40B4-BE49-F238E27FC236}">
                <a16:creationId xmlns:a16="http://schemas.microsoft.com/office/drawing/2014/main" id="{AD25874B-7EBC-4456-A3AE-976F09A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642" y="1929256"/>
            <a:ext cx="4445634" cy="2442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◎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核心目标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 多候选识别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输入作物、部位、症状与环境，输出 Top 3 缺素候选。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 证据可追溯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每条候选附置信度、命中症状与公开资料来源。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 建议分角色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农户简易版与农技专业版并行，明确安全边界。</a:t>
            </a:r>
          </a:p>
        </p:txBody>
      </p:sp>
      <p:sp>
        <p:nvSpPr>
          <p:cNvPr id="53" name="textbox 74">
            <a:extLst xmlns:a="http://schemas.openxmlformats.org/drawingml/2006/main">
              <a:ext uri="{FF2B5EF4-FFF2-40B4-BE49-F238E27FC236}">
                <a16:creationId xmlns:a16="http://schemas.microsoft.com/office/drawing/2014/main" id="{A72FD4C7-F2FF-41BD-BB79-705E7013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057" y="4757201"/>
            <a:ext cx="3591559" cy="429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关键挑战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如何让识别有据可查，同时保证一小时现场演示稳定？</a:t>
            </a:r>
          </a:p>
        </p:txBody>
      </p:sp>
      <p:pic>
        <p:nvPicPr>
          <p:cNvPr id="86" name="picture 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6070240a84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75640" y="1600200"/>
            <a:ext cx="38100" cy="4743450"/>
          </a:xfrm>
          <a:prstGeom xmlns:a="http://schemas.openxmlformats.org/drawingml/2006/main" prst="rect">
            <a:avLst/>
          </a:prstGeom>
        </p:spPr>
      </p:pic>
      <p:pic>
        <p:nvPicPr>
          <p:cNvPr id="87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6070240a84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295390" y="1600200"/>
            <a:ext cx="38100" cy="4743450"/>
          </a:xfrm>
          <a:prstGeom xmlns:a="http://schemas.openxmlformats.org/drawingml/2006/main" prst="rect">
            <a:avLst/>
          </a:prstGeom>
        </p:spPr>
      </p:pic>
      <p:pic>
        <p:nvPicPr>
          <p:cNvPr id="88" name="picture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5acdfd85f46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115" y="6581775"/>
            <a:ext cx="723900" cy="57150"/>
          </a:xfrm>
          <a:prstGeom xmlns:a="http://schemas.openxmlformats.org/drawingml/2006/main" prst="rect">
            <a:avLst/>
          </a:prstGeom>
        </p:spPr>
      </p:pic>
      <p:pic>
        <p:nvPicPr>
          <p:cNvPr id="89" name="picture 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d72e17ffb4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581140" y="4581525"/>
            <a:ext cx="28575" cy="752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75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" name="picture 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de907861641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8577733" y="6417602"/>
            <a:ext cx="110870" cy="144951"/>
          </a:xfrm>
          <a:prstGeom xmlns:a="http://schemas.openxmlformats.org/drawingml/2006/main" prst="rect">
            <a:avLst/>
          </a:prstGeom>
        </p:spPr>
      </p:pic>
      <p:pic>
        <p:nvPicPr>
          <p:cNvPr id="137" name="picture 9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50a708d8a42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8381172" y="6417602"/>
            <a:ext cx="122142" cy="144951"/>
          </a:xfrm>
          <a:prstGeom xmlns:a="http://schemas.openxmlformats.org/drawingml/2006/main" prst="rect">
            <a:avLst/>
          </a:prstGeom>
        </p:spPr>
      </p:pic>
      <p:pic>
        <p:nvPicPr>
          <p:cNvPr id="138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0491f0ee8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8278828" y="6417602"/>
            <a:ext cx="110185" cy="144951"/>
          </a:xfrm>
          <a:prstGeom xmlns:a="http://schemas.openxmlformats.org/drawingml/2006/main" prst="rect">
            <a:avLst/>
          </a:prstGeom>
        </p:spPr>
      </p:pic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5603744D-E706-4F73-B6A1-53C74FEE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145" y="1011999"/>
            <a:ext cx="10878184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</a:pP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78000"/>
              </a:lnSpc>
              <a:buNone/>
            </a:pP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r>
              <a:rPr sz="1200" spc="29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ARCHITECTURE</a:t>
            </a:r>
            <a:r>
              <a:rPr sz="1200" spc="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1200" spc="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</a:t>
            </a:r>
            <a:r>
              <a:rPr sz="1500" spc="120">
                <a:solidFill>
                  <a:srgbClr val="37DCF2">
                    <a:alpha val="80000"/>
                  </a:srgbClr>
                </a:solidFill>
                <a:latin typeface="Arial"/>
                <a:ea typeface="Arial"/>
                <a:cs typeface="Arial"/>
              </a:rPr>
              <a:t>03 / 08</a:t>
            </a:r>
            <a:endParaRPr sz="1500">
              <a:latin typeface="Arial"/>
              <a:ea typeface="Arial"/>
              <a:cs typeface="Arial"/>
            </a:endParaRPr>
          </a:p>
        </p:txBody>
      </p:sp>
      <p:pic>
        <p:nvPicPr>
          <p:cNvPr id="140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5c90d18444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588500" y="102108"/>
            <a:ext cx="2603500" cy="2102501"/>
          </a:xfrm>
          <a:prstGeom xmlns:a="http://schemas.openxmlformats.org/drawingml/2006/main" prst="rect">
            <a:avLst/>
          </a:prstGeom>
        </p:spPr>
      </p:pic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847C34-6BFD-4861-B5FE-3BCE9327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95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整体链路：</a:t>
            </a: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本地检索优先，模板生成施肥建议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36CC872-C7AD-4083-B608-596753F8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INPUT / 输入层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8BACF4-3957-4527-9985-36AE253C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/ 智能体层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C6171E-D957-44BB-A187-BE64FDCA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OUTPUT / 输出层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3853A23-7EDB-4517-A2C9-2EF79ED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619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83F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CD4E9F-4BFF-405A-B28F-7A61A93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2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作物类型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水稻 / 小麦 / 玉米 / 番茄等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BEAD6D-9D88-4943-BC85-BF410062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619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83F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EA96633-3CF0-4CF6-A16C-9AE9987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2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部位与症状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老叶、新叶、叶缘、生长点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07193D8-CA26-4943-A3C0-93E84B71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619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83F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7769630-6981-4415-92D1-48D98D4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2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田间环境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生育期、土壤、墒情与天气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A22CC79-469B-406C-8600-8385E247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476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482211-A23C-4242-8FDA-B925DDE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文本结构化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作物 + 部位 + 症状 + 环境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FAEF9F7-FBB2-4C33-BD08-6A4B8D8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62275"/>
            <a:ext cx="3476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A3650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8CF809-0E2E-4316-8667-696DD3DE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本地 RAG 召回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关键词加权 + 中文双字组向量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D743BF2-6C59-4036-A2CB-17760B70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57600"/>
            <a:ext cx="3476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9CB2911-0439-47EF-A033-65C72FD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242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多候选重排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Top 3 + 置信度 + 命中证据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6ED7A83-AE0B-4D54-8679-F85776D2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52925"/>
            <a:ext cx="3476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0865666-9E60-4364-AC6E-1B525143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 风险与建议组装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风险分级 + 双版本施肥方案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6F69CC1-8309-4B4B-BE07-F658215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7A2858D-704F-458A-8B71-0C4B0619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147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D79D75B-515E-47A7-97F9-E648699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A4ED865-158A-48AF-8E16-E7F907FD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667000" cy="1247775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19283F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D7DA8BF-4C86-4005-B975-13CFC517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305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3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候选与证据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1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缺素名称 · 置信度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1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命中症状 · 来源 ID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Top 3 次候选提示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5322BE-E04E-40F7-B402-6784E779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6670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94841B2-5DDD-4FA5-8B18-0187D448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3"/>
              </a:spcAft>
              <a:buNone/>
              <a:def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风险与施肥建议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1"/>
              </a:spcAft>
              <a:buNone/>
              <a:def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 / 中 / 高风险 + 复核提醒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农艺 · 有机肥 · 化学追施 · 安全减量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6DECD5B-64FF-45D3-BDA2-7C68BBE6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26670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B36"/>
          </a:solidFill>
          <a:ln xmlns:a="http://schemas.openxmlformats.org/drawingml/2006/main" w="9525">
            <a:solidFill>
              <a:srgbClr val="C9ED7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53936D-83FD-4AC4-B8C8-21CD7981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3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自然融入：</a:t>
            </a:r>
            <a:r>
              <a:rPr sz="93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科学施肥与粮食安全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35205BA-3644-4E85-8A74-A703125D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8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B39F9AA-EDF8-4C87-8B76-CE79488D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8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B24476B-D4D8-478F-A72B-7FB67687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技术栈  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Spring Boot 3.5.16  ·  Spring AI 1.1.8（可选）  ·  LangChain4j @Tool  ·  Local JSON KB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362A55B-7EBB-44D5-8316-41D016F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81750"/>
            <a:ext cx="10668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633"/>
          </a:solidFill>
          <a:ln xmlns:a="http://schemas.openxmlformats.org/drawingml/2006/main" w="9525">
            <a:solidFill>
              <a:srgbClr val="C9ED7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BD64EF7-16AD-427C-BD24-DC5D5E9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0557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核心原则  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缺素判断与施肥事实来自本地知识库；大模型只做可选润色，不参与事实生成。</a:t>
            </a:r>
          </a:p>
        </p:txBody>
      </p:sp>
    </p:spTree>
    <p:extLst>
      <p:ext uri="{BB962C8B-B14F-4D97-AF65-F5344CB8AC3E}">
        <p14:creationId xmlns:p14="http://schemas.microsoft.com/office/powerpoint/2010/main" val="6625161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rect 100">
            <a:extLst xmlns:a="http://schemas.openxmlformats.org/drawingml/2006/main">
              <a:ext uri="{FF2B5EF4-FFF2-40B4-BE49-F238E27FC236}">
                <a16:creationId xmlns:a16="http://schemas.microsoft.com/office/drawing/2014/main" id="{F4501096-366E-4A87-B3FE-AE50EEED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635"/>
            <a:ext cx="12381230" cy="7431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67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290c08880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588500" y="102108"/>
            <a:ext cx="2603500" cy="2102501"/>
          </a:xfrm>
          <a:prstGeom xmlns:a="http://schemas.openxmlformats.org/drawingml/2006/main" prst="rect">
            <a:avLst/>
          </a:prstGeom>
        </p:spPr>
      </p:pic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CA680BB1-BB6E-41AD-9E46-EF2FF9E8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3" y="1114107"/>
            <a:ext cx="10870565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</a:pP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78000"/>
              </a:lnSpc>
              <a:buNone/>
            </a:pP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</a:t>
            </a:r>
            <a:r>
              <a:rPr sz="1200" spc="3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200" spc="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200" spc="1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EMO</a:t>
            </a:r>
            <a:r>
              <a:rPr sz="1200" spc="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</a:t>
            </a:r>
            <a:r>
              <a:rPr sz="1200" spc="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</a:t>
            </a:r>
            <a:r>
              <a:rPr sz="1500" spc="110">
                <a:solidFill>
                  <a:srgbClr val="37DCF2">
                    <a:alpha val="80000"/>
                  </a:srgbClr>
                </a:solidFill>
                <a:latin typeface="Arial"/>
                <a:ea typeface="Arial"/>
                <a:cs typeface="Arial"/>
              </a:rPr>
              <a:t>04 / 08</a:t>
            </a:r>
            <a:endParaRPr sz="1500">
              <a:latin typeface="Arial"/>
              <a:ea typeface="Arial"/>
              <a:cs typeface="Arial"/>
            </a:endParaRPr>
          </a:p>
        </p:txBody>
      </p:sp>
      <p:pic>
        <p:nvPicPr>
          <p:cNvPr id="169" name="picture 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65de73eee4e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90190" y="667097"/>
            <a:ext cx="1493861" cy="374302"/>
          </a:xfrm>
          <a:prstGeom xmlns:a="http://schemas.openxmlformats.org/drawingml/2006/main" prst="rect">
            <a:avLst/>
          </a:prstGeom>
        </p:spPr>
      </p:pic>
      <p:pic>
        <p:nvPicPr>
          <p:cNvPr id="170" name="picture 1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8e086603d47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50" y="1502283"/>
            <a:ext cx="10858500" cy="9525"/>
          </a:xfrm>
          <a:prstGeom xmlns:a="http://schemas.openxmlformats.org/drawingml/2006/main" prst="rect">
            <a:avLst/>
          </a:prstGeom>
        </p:spPr>
      </p:pic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3674F68-FF6C-4CD7-AD79-422CDFCC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905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C536C"/>
            </a:solidFill>
            <a:prstDash val="solid"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78b3980284f0b"/>
          <a:stretch xmlns:a="http://schemas.openxmlformats.org/drawingml/2006/main"/>
        </p:blipFill>
        <p:spPr>
          <a:xfrm xmlns:a="http://schemas.openxmlformats.org/drawingml/2006/main">
            <a:off x="685800" y="1844530"/>
            <a:ext cx="5715000" cy="4483389"/>
          </a:xfrm>
          <a:prstGeom xmlns:a="http://schemas.openxmlformats.org/drawingml/2006/main" prst="roundRect">
            <a:avLst>
              <a:gd name="adj" fmla="val 2075"/>
            </a:avLst>
          </a:prstGeom>
        </p:spPr>
      </p:pic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E815939-695A-468E-87FD-5CC11EDA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系统运行效果</a:t>
            </a: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真实页面截图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877D6B9-C216-4712-B06F-4C19E77F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14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3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3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水稻缺氮样例 · 本地接口实时返回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862F77F-7F3D-46C2-AF38-AFC69686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EEC3358-B3B5-4DCE-88E2-33F0E1C4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2BB2E94-1522-4B95-B262-A4962AA8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类缺素知识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04A4C1F-BC49-463D-A413-BC76E62E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336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43FCA37-C626-4AD9-B07D-DD09D1D9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479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7DF2BA9-1BF1-41DC-9067-16CDDFD8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480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个候选结果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7727000-DB24-4CEC-8692-E784BAF7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446A0F4-10C6-46C3-9354-59F860E5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72%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C1AE13E-8677-42DD-A673-E8D0BA8E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首要候选置信度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20D07E7-5EB2-4C44-8A33-49E7E729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9570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E2D47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53A6262-597A-4D06-9837-93E751FA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100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7/7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5F15336-6492-42E7-AA95-921DAD9C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10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自动化测试通过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285AE24-3CD8-40E3-8A02-F42DB101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44862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72B3D"/>
          </a:solidFill>
          <a:ln xmlns:a="http://schemas.openxmlformats.org/drawingml/2006/main" w="9525">
            <a:solidFill>
              <a:srgbClr val="C9ED7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7EC0757-F8F4-48F1-841F-913C78B8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4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实测结果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2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缺氮（N）  ·  中风险  ·  3 个候选  ·  3 条来源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含农艺、有机肥、化学追施、安全减量四类建议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2ED11F5-7E49-4E23-A5AB-7E0B669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1531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演示路径：快速样例 → 智能诊断 → 候选证据 → 双版本建议</a:t>
            </a:r>
          </a:p>
        </p:txBody>
      </p:sp>
    </p:spTree>
    <p:extLst>
      <p:ext uri="{BB962C8B-B14F-4D97-AF65-F5344CB8AC3E}">
        <p14:creationId xmlns:p14="http://schemas.microsoft.com/office/powerpoint/2010/main" val="2561801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rect 148">
            <a:extLst xmlns:a="http://schemas.openxmlformats.org/drawingml/2006/main">
              <a:ext uri="{FF2B5EF4-FFF2-40B4-BE49-F238E27FC236}">
                <a16:creationId xmlns:a16="http://schemas.microsoft.com/office/drawing/2014/main" id="{4CBC2B88-5508-4C75-B945-9F9D3698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19"/>
            <a:ext cx="12380976" cy="7415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2" name="picture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8cdd7fa1847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866775" y="5627370"/>
            <a:ext cx="10458450" cy="571500"/>
          </a:xfrm>
          <a:prstGeom xmlns:a="http://schemas.openxmlformats.org/drawingml/2006/main" prst="rect">
            <a:avLst/>
          </a:prstGeom>
        </p:spPr>
      </p:pic>
      <p:sp>
        <p:nvSpPr>
          <p:cNvPr id="152" name="textbox 152">
            <a:extLst xmlns:a="http://schemas.openxmlformats.org/drawingml/2006/main">
              <a:ext uri="{FF2B5EF4-FFF2-40B4-BE49-F238E27FC236}">
                <a16:creationId xmlns:a16="http://schemas.microsoft.com/office/drawing/2014/main" id="{F080F9A6-49F7-4B5C-B291-B7FEAE1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4075" y="5614670"/>
            <a:ext cx="10483850" cy="603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需求解构        知识库         核心开发         联调测试         冻结答辩</a:t>
            </a:r>
          </a:p>
        </p:txBody>
      </p:sp>
      <p:pic>
        <p:nvPicPr>
          <p:cNvPr id="214" name="picture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3e91fc65a4c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575800" y="7619"/>
            <a:ext cx="2616200" cy="2131725"/>
          </a:xfrm>
          <a:prstGeom xmlns:a="http://schemas.openxmlformats.org/drawingml/2006/main" prst="rect">
            <a:avLst/>
          </a:prstGeom>
        </p:spPr>
      </p:pic>
      <p:sp>
        <p:nvSpPr>
          <p:cNvPr id="156" name="textbox 156">
            <a:extLst xmlns:a="http://schemas.openxmlformats.org/drawingml/2006/main">
              <a:ext uri="{FF2B5EF4-FFF2-40B4-BE49-F238E27FC236}">
                <a16:creationId xmlns:a16="http://schemas.microsoft.com/office/drawing/2014/main" id="{38971B70-6ECA-4391-A1B2-29E96F6B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51" y="6317500"/>
            <a:ext cx="1010348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0–8 min          8–20 min          20–40 min          40–50 min          50–60 min</a:t>
            </a:r>
          </a:p>
        </p:txBody>
      </p:sp>
      <p:sp>
        <p:nvSpPr>
          <p:cNvPr id="158" name="textbox 158">
            <a:extLst xmlns:a="http://schemas.openxmlformats.org/drawingml/2006/main">
              <a:ext uri="{FF2B5EF4-FFF2-40B4-BE49-F238E27FC236}">
                <a16:creationId xmlns:a16="http://schemas.microsoft.com/office/drawing/2014/main" id="{7FDAE945-A4F7-4BD0-A18A-313EF09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948" y="2849048"/>
            <a:ext cx="1046480" cy="165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 测试 / 部署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JUnit 与接口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打包与启动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冒烟测试</a:t>
            </a:r>
          </a:p>
        </p:txBody>
      </p:sp>
      <p:sp>
        <p:nvSpPr>
          <p:cNvPr id="160" name="textbox 160">
            <a:extLst xmlns:a="http://schemas.openxmlformats.org/drawingml/2006/main">
              <a:ext uri="{FF2B5EF4-FFF2-40B4-BE49-F238E27FC236}">
                <a16:creationId xmlns:a16="http://schemas.microsoft.com/office/drawing/2014/main" id="{EC7FDDF6-61AA-422C-9CD2-97CB8529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348" y="2849048"/>
            <a:ext cx="1046480" cy="165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知识 / 数据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资料清洗与 JSON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证据与来源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安全表述</a:t>
            </a:r>
          </a:p>
        </p:txBody>
      </p:sp>
      <p:sp>
        <p:nvSpPr>
          <p:cNvPr id="162" name="textbox 162">
            <a:extLst xmlns:a="http://schemas.openxmlformats.org/drawingml/2006/main">
              <a:ext uri="{FF2B5EF4-FFF2-40B4-BE49-F238E27FC236}">
                <a16:creationId xmlns:a16="http://schemas.microsoft.com/office/drawing/2014/main" id="{47D524B3-7295-479F-BF38-C99A8E8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148" y="2850934"/>
            <a:ext cx="1046480" cy="1656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前端 / 交互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表单与结果页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风险与双版本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浏览器验收</a:t>
            </a:r>
          </a:p>
        </p:txBody>
      </p:sp>
      <p:sp>
        <p:nvSpPr>
          <p:cNvPr id="164" name="textbox 164">
            <a:extLst xmlns:a="http://schemas.openxmlformats.org/drawingml/2006/main">
              <a:ext uri="{FF2B5EF4-FFF2-40B4-BE49-F238E27FC236}">
                <a16:creationId xmlns:a16="http://schemas.microsoft.com/office/drawing/2014/main" id="{B4476BEF-54F0-4572-A98E-8D4DBEC4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48" y="2850934"/>
            <a:ext cx="1046480" cy="1656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队长 / 后端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主链路与 API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检索与置信度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构建与提交</a:t>
            </a:r>
          </a:p>
        </p:txBody>
      </p:sp>
      <p:sp>
        <p:nvSpPr>
          <p:cNvPr id="166" name="textbox 166">
            <a:extLst xmlns:a="http://schemas.openxmlformats.org/drawingml/2006/main">
              <a:ext uri="{FF2B5EF4-FFF2-40B4-BE49-F238E27FC236}">
                <a16:creationId xmlns:a16="http://schemas.microsoft.com/office/drawing/2014/main" id="{22F72546-E367-4967-A1C1-3E9BDAF7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7" y="1019619"/>
            <a:ext cx="10880725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</a:pP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78000"/>
              </a:lnSpc>
              <a:buNone/>
            </a:pPr>
            <a:r>
              <a:rPr sz="1200" spc="10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r>
              <a:rPr sz="1200" spc="3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spc="10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ROLES</a:t>
            </a:r>
            <a:r>
              <a:rPr sz="1200" spc="3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spc="10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200" spc="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spc="10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RESPONSIBILITIES</a:t>
            </a:r>
            <a:r>
              <a:rPr sz="1200" spc="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200" spc="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</a:t>
            </a:r>
            <a:r>
              <a:rPr sz="1500" spc="100">
                <a:solidFill>
                  <a:srgbClr val="37DCF2">
                    <a:alpha val="80000"/>
                  </a:srgbClr>
                </a:solidFill>
                <a:latin typeface="Arial"/>
                <a:ea typeface="Arial"/>
                <a:cs typeface="Arial"/>
              </a:rPr>
              <a:t>05 / 08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168" name="textbox 168">
            <a:extLst xmlns:a="http://schemas.openxmlformats.org/drawingml/2006/main">
              <a:ext uri="{FF2B5EF4-FFF2-40B4-BE49-F238E27FC236}">
                <a16:creationId xmlns:a16="http://schemas.microsoft.com/office/drawing/2014/main" id="{DBFE7A7E-7542-4BD5-A2F5-999615B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748" y="2848705"/>
            <a:ext cx="979805" cy="165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 PPT / 答辩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叙事与截图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2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思政自然融入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计时彩排</a:t>
            </a:r>
          </a:p>
        </p:txBody>
      </p:sp>
      <p:pic>
        <p:nvPicPr>
          <p:cNvPr id="222" name="picture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b39221c45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1295400" y="190309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72" name="textbox 172">
            <a:extLst xmlns:a="http://schemas.openxmlformats.org/drawingml/2006/main">
              <a:ext uri="{FF2B5EF4-FFF2-40B4-BE49-F238E27FC236}">
                <a16:creationId xmlns:a16="http://schemas.microsoft.com/office/drawing/2014/main" id="{834239C7-1AA4-4826-9FAC-B0F48AA4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2700" y="1890395"/>
            <a:ext cx="787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pic>
        <p:nvPicPr>
          <p:cNvPr id="224" name="picture 1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0cdb8c52a4f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3505200" y="190309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76" name="textbox 176">
            <a:extLst xmlns:a="http://schemas.openxmlformats.org/drawingml/2006/main">
              <a:ext uri="{FF2B5EF4-FFF2-40B4-BE49-F238E27FC236}">
                <a16:creationId xmlns:a16="http://schemas.microsoft.com/office/drawing/2014/main" id="{A55760D2-0025-4772-8AF8-12CC4EBC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2500" y="1890395"/>
            <a:ext cx="787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pic>
        <p:nvPicPr>
          <p:cNvPr id="226" name="picture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009e8a4e6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5715000" y="190309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80" name="textbox 180">
            <a:extLst xmlns:a="http://schemas.openxmlformats.org/drawingml/2006/main">
              <a:ext uri="{FF2B5EF4-FFF2-40B4-BE49-F238E27FC236}">
                <a16:creationId xmlns:a16="http://schemas.microsoft.com/office/drawing/2014/main" id="{613A0417-0DCB-4465-A052-6A84316B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02300" y="1890395"/>
            <a:ext cx="787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pic>
        <p:nvPicPr>
          <p:cNvPr id="228" name="picture 1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4b75824264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7924800" y="190309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84" name="textbox 184">
            <a:extLst xmlns:a="http://schemas.openxmlformats.org/drawingml/2006/main">
              <a:ext uri="{FF2B5EF4-FFF2-40B4-BE49-F238E27FC236}">
                <a16:creationId xmlns:a16="http://schemas.microsoft.com/office/drawing/2014/main" id="{0E950A4A-9AC4-4A99-B148-EB963B9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2100" y="1890395"/>
            <a:ext cx="787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pic>
        <p:nvPicPr>
          <p:cNvPr id="230" name="picture 1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112e42d17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10134600" y="190309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88" name="textbox 188">
            <a:extLst xmlns:a="http://schemas.openxmlformats.org/drawingml/2006/main">
              <a:ext uri="{FF2B5EF4-FFF2-40B4-BE49-F238E27FC236}">
                <a16:creationId xmlns:a16="http://schemas.microsoft.com/office/drawing/2014/main" id="{3EBE526D-E5E2-46EE-BC50-03E1D30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1900" y="1890395"/>
            <a:ext cx="787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pic>
        <p:nvPicPr>
          <p:cNvPr id="232" name="picture 1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9ad2a2095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75586" y="577817"/>
            <a:ext cx="1512278" cy="369187"/>
          </a:xfrm>
          <a:prstGeom xmlns:a="http://schemas.openxmlformats.org/drawingml/2006/main" prst="rect">
            <a:avLst/>
          </a:prstGeom>
        </p:spPr>
      </p:pic>
      <p:sp>
        <p:nvSpPr>
          <p:cNvPr id="194" name="textbox 194">
            <a:extLst xmlns:a="http://schemas.openxmlformats.org/drawingml/2006/main">
              <a:ext uri="{FF2B5EF4-FFF2-40B4-BE49-F238E27FC236}">
                <a16:creationId xmlns:a16="http://schemas.microsoft.com/office/drawing/2014/main" id="{8F762CEB-D7FD-4B80-8041-D1DFD0EF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7" y="5232184"/>
            <a:ext cx="1369060" cy="200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◎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项目时间分配</a:t>
            </a:r>
          </a:p>
        </p:txBody>
      </p:sp>
      <p:sp>
        <p:nvSpPr>
          <p:cNvPr id="196" name="textbox 196">
            <a:extLst xmlns:a="http://schemas.openxmlformats.org/drawingml/2006/main">
              <a:ext uri="{FF2B5EF4-FFF2-40B4-BE49-F238E27FC236}">
                <a16:creationId xmlns:a16="http://schemas.microsoft.com/office/drawing/2014/main" id="{8B8EC4C6-D5D6-4326-B827-F61E3185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158" y="6898525"/>
            <a:ext cx="1077594" cy="141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815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8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核心开发与联调约占 30 分钟</a:t>
            </a:r>
          </a:p>
        </p:txBody>
      </p:sp>
      <p:pic>
        <p:nvPicPr>
          <p:cNvPr id="235" name="picture 1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551241f5c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50" y="1407795"/>
            <a:ext cx="10858500" cy="9525"/>
          </a:xfrm>
          <a:prstGeom xmlns:a="http://schemas.openxmlformats.org/drawingml/2006/main" prst="rect">
            <a:avLst/>
          </a:prstGeom>
        </p:spPr>
      </p:pic>
      <p:pic>
        <p:nvPicPr>
          <p:cNvPr id="236" name="picture 2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796ae899b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76275" y="1712595"/>
            <a:ext cx="2000250" cy="28575"/>
          </a:xfrm>
          <a:prstGeom xmlns:a="http://schemas.openxmlformats.org/drawingml/2006/main" prst="rect">
            <a:avLst/>
          </a:prstGeom>
        </p:spPr>
      </p:pic>
      <p:pic>
        <p:nvPicPr>
          <p:cNvPr id="237" name="picture 2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796ae899b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2886075" y="1712595"/>
            <a:ext cx="2000250" cy="28575"/>
          </a:xfrm>
          <a:prstGeom xmlns:a="http://schemas.openxmlformats.org/drawingml/2006/main" prst="rect">
            <a:avLst/>
          </a:prstGeom>
        </p:spPr>
      </p:pic>
      <p:pic>
        <p:nvPicPr>
          <p:cNvPr id="238" name="picture 2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796ae899b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5095875" y="1712595"/>
            <a:ext cx="2000250" cy="28575"/>
          </a:xfrm>
          <a:prstGeom xmlns:a="http://schemas.openxmlformats.org/drawingml/2006/main" prst="rect">
            <a:avLst/>
          </a:prstGeom>
        </p:spPr>
      </p:pic>
      <p:pic>
        <p:nvPicPr>
          <p:cNvPr id="239" name="picture 2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796ae899b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7305675" y="1712595"/>
            <a:ext cx="2000250" cy="28575"/>
          </a:xfrm>
          <a:prstGeom xmlns:a="http://schemas.openxmlformats.org/drawingml/2006/main" prst="rect">
            <a:avLst/>
          </a:prstGeom>
        </p:spPr>
      </p:pic>
      <p:pic>
        <p:nvPicPr>
          <p:cNvPr id="240" name="picture 2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796ae899b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515475" y="1712595"/>
            <a:ext cx="2000250" cy="28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113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rect 210">
            <a:extLst xmlns:a="http://schemas.openxmlformats.org/drawingml/2006/main">
              <a:ext uri="{FF2B5EF4-FFF2-40B4-BE49-F238E27FC236}">
                <a16:creationId xmlns:a16="http://schemas.microsoft.com/office/drawing/2014/main" id="{1A2832F2-DFC9-47C8-96B8-C8E33BD8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1230" cy="7430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2" name="rect 212">
            <a:extLst xmlns:a="http://schemas.openxmlformats.org/drawingml/2006/main">
              <a:ext uri="{FF2B5EF4-FFF2-40B4-BE49-F238E27FC236}">
                <a16:creationId xmlns:a16="http://schemas.microsoft.com/office/drawing/2014/main" id="{AD5A2A3C-CEE5-49C1-8544-3D38C18D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50158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CF2">
              <a:alpha val="19215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4" name="rect 214">
            <a:extLst xmlns:a="http://schemas.openxmlformats.org/drawingml/2006/main">
              <a:ext uri="{FF2B5EF4-FFF2-40B4-BE49-F238E27FC236}">
                <a16:creationId xmlns:a16="http://schemas.microsoft.com/office/drawing/2014/main" id="{37797ABE-4911-4D5F-8D17-1CCED216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83608"/>
            <a:ext cx="590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CF2">
              <a:alpha val="19607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6" name="rect 216">
            <a:extLst xmlns:a="http://schemas.openxmlformats.org/drawingml/2006/main">
              <a:ext uri="{FF2B5EF4-FFF2-40B4-BE49-F238E27FC236}">
                <a16:creationId xmlns:a16="http://schemas.microsoft.com/office/drawing/2014/main" id="{03E68727-ED5A-4442-AAA4-21E2AA4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16883"/>
            <a:ext cx="600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CF2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8" name="rect 218">
            <a:extLst xmlns:a="http://schemas.openxmlformats.org/drawingml/2006/main">
              <a:ext uri="{FF2B5EF4-FFF2-40B4-BE49-F238E27FC236}">
                <a16:creationId xmlns:a16="http://schemas.microsoft.com/office/drawing/2014/main" id="{28528EE9-ACE8-46E8-916D-F0EDAEA0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0333"/>
            <a:ext cx="638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CF2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0" name="rect 220">
            <a:extLst xmlns:a="http://schemas.openxmlformats.org/drawingml/2006/main">
              <a:ext uri="{FF2B5EF4-FFF2-40B4-BE49-F238E27FC236}">
                <a16:creationId xmlns:a16="http://schemas.microsoft.com/office/drawing/2014/main" id="{5256D12D-6C4B-4D72-AF9C-C8B94799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17058"/>
            <a:ext cx="49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CF2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2" name="rect 222">
            <a:extLst xmlns:a="http://schemas.openxmlformats.org/drawingml/2006/main">
              <a:ext uri="{FF2B5EF4-FFF2-40B4-BE49-F238E27FC236}">
                <a16:creationId xmlns:a16="http://schemas.microsoft.com/office/drawing/2014/main" id="{31369688-2491-4942-A608-D715378A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3433"/>
            <a:ext cx="666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CF2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278" name="table 224"/>
          <p:cNvGraphicFramePr/>
          <p:nvPr/>
        </p:nvGraphicFramePr>
        <p:xfrm>
          <a:off xmlns:a="http://schemas.openxmlformats.org/drawingml/2006/main" x="6486525" y="2511933"/>
          <a:ext xmlns:a="http://schemas.openxmlformats.org/drawingml/2006/main" cx="4791075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1590675"/>
                <a:gridCol w="2105025"/>
              </a:tblGrid>
              <a:tr h="447675"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buNone/>
                      </a:pPr>
                      <a:r>
                        <a:rPr sz="88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对比维度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buNone/>
                      </a:pPr>
                      <a:r>
                        <a:rPr sz="88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常见方案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buNone/>
                      </a:pPr>
                      <a:r>
                        <a:rPr sz="88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本方案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5"/>
                    </a:solidFill>
                  </a:tcPr>
                </a:tc>
              </a:tr>
              <a:tr h="466725"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82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识别依据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9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模型经验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3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本地检索证据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</a:tr>
              <a:tr h="466725"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82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断网演示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8273D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8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可能不可用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8273D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3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完整可用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8273D"/>
                    </a:solidFill>
                  </a:tcPr>
                </a:tc>
              </a:tr>
              <a:tr h="466725"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l">
                        <a:lnSpc>
                          <a:spcPct val="119000"/>
                        </a:lnSpc>
                        <a:buNone/>
                      </a:pPr>
                      <a:r>
                        <a:rPr sz="82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结果解释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9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难以追溯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3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 + 证据 + 来源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</a:tr>
              <a:tr h="466725"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82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施肥输出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8273D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24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单一回答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8273D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24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四类方案 + 双版本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8273D"/>
                    </a:solidFill>
                  </a:tcPr>
                </a:tc>
              </a:tr>
              <a:tr h="466725"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l">
                        <a:lnSpc>
                          <a:spcPct val="119000"/>
                        </a:lnSpc>
                        <a:buNone/>
                      </a:pPr>
                      <a:r>
                        <a:rPr sz="82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知识更新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9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改代码/重训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3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JSON 热重载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B2C45"/>
                    </a:solidFill>
                  </a:tcPr>
                </a:tc>
              </a:tr>
              <a:tr h="457200"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820" b="1">
                          <a:solidFill>
                            <a:srgbClr val="37DCF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测试证据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8273D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8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展示为主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8273D"/>
                    </a:solidFill>
                  </a:tcPr>
                </a:tc>
                <a:tc>
                  <a:txBody>
                    <a:bodyPr wrap="square" lIns="38100" tIns="19050" rIns="38100" bIns="19050">
                      <a:normAutofit/>
                    </a:bodyPr>
                    <a:lstStyle/>
                    <a:p>
                      <a:pPr algn="ctr">
                        <a:lnSpc>
                          <a:spcPct val="113000"/>
                        </a:lnSpc>
                        <a:buNone/>
                      </a:pPr>
                      <a:r>
                        <a:rPr sz="82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7/7 自动测试</a:t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 anchor="ctr">
                    <a:lnL w="1905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000000"/>
                      </a:solidFill>
                      <a:prstDash val="solid"/>
                    </a:lnR>
                    <a:lnT w="19050" cmpd="sng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8273D"/>
                    </a:solidFill>
                  </a:tcPr>
                </a:tc>
              </a:tr>
            </a:tbl>
          </a:graphicData>
        </a:graphic>
      </p:graphicFrame>
      <p:pic>
        <p:nvPicPr>
          <p:cNvPr id="279" name="picture 2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9013820384b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588500" y="102108"/>
            <a:ext cx="2603500" cy="2102501"/>
          </a:xfrm>
          <a:prstGeom xmlns:a="http://schemas.openxmlformats.org/drawingml/2006/main" prst="rect">
            <a:avLst/>
          </a:prstGeom>
        </p:spPr>
      </p:pic>
      <p:sp>
        <p:nvSpPr>
          <p:cNvPr id="228" name="textbox 228">
            <a:extLst xmlns:a="http://schemas.openxmlformats.org/drawingml/2006/main">
              <a:ext uri="{FF2B5EF4-FFF2-40B4-BE49-F238E27FC236}">
                <a16:creationId xmlns:a16="http://schemas.microsoft.com/office/drawing/2014/main" id="{B261FFEA-EC8B-4369-9D60-6B5CB6E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92" y="2852477"/>
            <a:ext cx="4155440" cy="563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2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可解释 RAG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本地知识库优先，候选附命中症状与来源 ID，避免大模型黑箱。</a:t>
            </a:r>
          </a:p>
        </p:txBody>
      </p:sp>
      <p:sp>
        <p:nvSpPr>
          <p:cNvPr id="232" name="textbox 232">
            <a:extLst xmlns:a="http://schemas.openxmlformats.org/drawingml/2006/main">
              <a:ext uri="{FF2B5EF4-FFF2-40B4-BE49-F238E27FC236}">
                <a16:creationId xmlns:a16="http://schemas.microsoft.com/office/drawing/2014/main" id="{4468E059-0F2F-4201-8298-89DA178D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3" y="1114107"/>
            <a:ext cx="10870565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</a:pPr>
            <a:endParaRPr sz="1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 algn="l">
              <a:lnSpc>
                <a:spcPct val="78000"/>
              </a:lnSpc>
              <a:buNone/>
            </a:pP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INNOVATION</a:t>
            </a:r>
            <a:r>
              <a:rPr sz="1200" spc="3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200" spc="27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spc="12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</a:t>
            </a:r>
            <a:r>
              <a:rPr sz="1200" spc="11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ANTAGES</a:t>
            </a:r>
            <a:r>
              <a:rPr sz="1200" spc="0">
                <a:solidFill>
                  <a:srgbClr val="37DCF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</a:t>
            </a:r>
            <a:r>
              <a:rPr sz="1500" spc="110">
                <a:solidFill>
                  <a:srgbClr val="37DCF2">
                    <a:alpha val="80000"/>
                  </a:srgbClr>
                </a:solidFill>
                <a:latin typeface="Arial"/>
                <a:ea typeface="Arial"/>
                <a:cs typeface="Arial"/>
              </a:rPr>
              <a:t>06 / 08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234" name="textbox 234">
            <a:extLst xmlns:a="http://schemas.openxmlformats.org/drawingml/2006/main">
              <a:ext uri="{FF2B5EF4-FFF2-40B4-BE49-F238E27FC236}">
                <a16:creationId xmlns:a16="http://schemas.microsoft.com/office/drawing/2014/main" id="{2C02E0D4-7B24-4359-B358-21A1B6DD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92" y="4166927"/>
            <a:ext cx="4136390" cy="366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2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风险预警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结合土壤、环境与生育期，给出风险等级和复核建议。</a:t>
            </a:r>
          </a:p>
        </p:txBody>
      </p:sp>
      <p:sp>
        <p:nvSpPr>
          <p:cNvPr id="236" name="textbox 236">
            <a:extLst xmlns:a="http://schemas.openxmlformats.org/drawingml/2006/main">
              <a:ext uri="{FF2B5EF4-FFF2-40B4-BE49-F238E27FC236}">
                <a16:creationId xmlns:a16="http://schemas.microsoft.com/office/drawing/2014/main" id="{E83121A6-0BE2-4E30-AABE-12472F1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425" y="5281352"/>
            <a:ext cx="4136390" cy="366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2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双版本 + 热重载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农户/农技双模板；JSON 知识库可热重载，增量更新不改 Java。</a:t>
            </a:r>
          </a:p>
        </p:txBody>
      </p:sp>
      <p:pic>
        <p:nvPicPr>
          <p:cNvPr id="284" name="picture 2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7a91168324b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85446" y="666725"/>
            <a:ext cx="1505023" cy="372069"/>
          </a:xfrm>
          <a:prstGeom xmlns:a="http://schemas.openxmlformats.org/drawingml/2006/main" prst="rect">
            <a:avLst/>
          </a:prstGeom>
        </p:spPr>
      </p:pic>
      <p:sp>
        <p:nvSpPr>
          <p:cNvPr id="242" name="textbox 242">
            <a:extLst xmlns:a="http://schemas.openxmlformats.org/drawingml/2006/main">
              <a:ext uri="{FF2B5EF4-FFF2-40B4-BE49-F238E27FC236}">
                <a16:creationId xmlns:a16="http://schemas.microsoft.com/office/drawing/2014/main" id="{CD60A2B4-E213-40C4-944A-1C2FE4C1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027" y="2059940"/>
            <a:ext cx="1652904" cy="256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与同侪解法对比</a:t>
            </a:r>
          </a:p>
        </p:txBody>
      </p:sp>
      <p:sp>
        <p:nvSpPr>
          <p:cNvPr id="246" name="textbox 246">
            <a:extLst xmlns:a="http://schemas.openxmlformats.org/drawingml/2006/main">
              <a:ext uri="{FF2B5EF4-FFF2-40B4-BE49-F238E27FC236}">
                <a16:creationId xmlns:a16="http://schemas.microsoft.com/office/drawing/2014/main" id="{59C88427-C781-478D-A86C-B2D324D3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77" y="2059940"/>
            <a:ext cx="1254125" cy="256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核心创新点</a:t>
            </a:r>
          </a:p>
        </p:txBody>
      </p:sp>
      <p:pic>
        <p:nvPicPr>
          <p:cNvPr id="287" name="picture 2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29596105b4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914400" y="2511933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50" name="textbox 250">
            <a:extLst xmlns:a="http://schemas.openxmlformats.org/drawingml/2006/main">
              <a:ext uri="{FF2B5EF4-FFF2-40B4-BE49-F238E27FC236}">
                <a16:creationId xmlns:a16="http://schemas.microsoft.com/office/drawing/2014/main" id="{5C8E5F03-5E3E-44B8-BD6F-5903869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897" y="2621915"/>
            <a:ext cx="245109" cy="256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pic>
        <p:nvPicPr>
          <p:cNvPr id="289" name="picture 2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bf82f4b7b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914400" y="3826383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54" name="textbox 254">
            <a:extLst xmlns:a="http://schemas.openxmlformats.org/drawingml/2006/main">
              <a:ext uri="{FF2B5EF4-FFF2-40B4-BE49-F238E27FC236}">
                <a16:creationId xmlns:a16="http://schemas.microsoft.com/office/drawing/2014/main" id="{A050B127-B7CA-4DFE-915F-F08AED9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727" y="3972941"/>
            <a:ext cx="234950" cy="252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pic>
        <p:nvPicPr>
          <p:cNvPr id="291" name="picture 2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eab5559ed4f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 flipH="0" flipV="0">
            <a:off x="914400" y="4940808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258" name="textbox 258">
            <a:extLst xmlns:a="http://schemas.openxmlformats.org/drawingml/2006/main">
              <a:ext uri="{FF2B5EF4-FFF2-40B4-BE49-F238E27FC236}">
                <a16:creationId xmlns:a16="http://schemas.microsoft.com/office/drawing/2014/main" id="{3107B31A-11B7-4081-9E6C-EABA36DA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700" y="4928108"/>
            <a:ext cx="501650" cy="50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pic>
        <p:nvPicPr>
          <p:cNvPr id="293" name="picture 2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ab7c21072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50" y="1502283"/>
            <a:ext cx="10858500" cy="9525"/>
          </a:xfrm>
          <a:prstGeom xmlns:a="http://schemas.openxmlformats.org/drawingml/2006/main" prst="rect">
            <a:avLst/>
          </a:prstGeom>
        </p:spPr>
      </p:pic>
      <p:pic>
        <p:nvPicPr>
          <p:cNvPr id="294" name="picture 2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012fb195c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14400" y="3626358"/>
            <a:ext cx="4791075" cy="9525"/>
          </a:xfrm>
          <a:prstGeom xmlns:a="http://schemas.openxmlformats.org/drawingml/2006/main" prst="rect">
            <a:avLst/>
          </a:prstGeom>
        </p:spPr>
      </p:pic>
      <p:pic>
        <p:nvPicPr>
          <p:cNvPr id="295" name="picture 2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012fb195c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14400" y="4740783"/>
            <a:ext cx="4791075" cy="9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548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rect 270">
            <a:extLst xmlns:a="http://schemas.openxmlformats.org/drawingml/2006/main">
              <a:ext uri="{FF2B5EF4-FFF2-40B4-BE49-F238E27FC236}">
                <a16:creationId xmlns:a16="http://schemas.microsoft.com/office/drawing/2014/main" id="{8DABE2F8-93BE-4D26-AB4A-9D345B92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-1471930"/>
            <a:ext cx="12379960" cy="890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2" name="rect 272">
            <a:extLst xmlns:a="http://schemas.openxmlformats.org/drawingml/2006/main">
              <a:ext uri="{FF2B5EF4-FFF2-40B4-BE49-F238E27FC236}">
                <a16:creationId xmlns:a16="http://schemas.microsoft.com/office/drawing/2014/main" id="{A98D395A-80E1-4970-8B71-71B5B918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" y="3490595"/>
            <a:ext cx="4776787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38" name="table 274"/>
          <p:cNvGraphicFramePr/>
          <p:nvPr/>
        </p:nvGraphicFramePr>
        <p:xfrm>
          <a:off xmlns:a="http://schemas.openxmlformats.org/drawingml/2006/main" x="666750" y="-252095"/>
          <a:ext xmlns:a="http://schemas.openxmlformats.org/drawingml/2006/main" cx="5285740" cy="60191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5740"/>
              </a:tblGrid>
              <a:tr h="1275715">
                <a:tc>
                  <a:txBody>
                    <a:bodyPr/>
                    <a:lstStyle/>
                    <a:p>
                      <a:pPr algn="l">
                        <a:lnSpc>
                          <a:spcPct val="179000"/>
                        </a:lnSpc>
                        <a:buNone/>
                      </a:pPr>
                      <a: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41275" cmpd="sng">
                      <a:solidFill>
                        <a:srgbClr val="37DCF2"/>
                      </a:solidFill>
                      <a:prstDash val="solid"/>
                    </a:lnL>
                    <a:lnR w="41275" cmpd="sng">
                      <a:solidFill>
                        <a:srgbClr val="37DCF2"/>
                      </a:solidFill>
                      <a:prstDash val="solid"/>
                    </a:lnR>
                    <a:lnT w="41275" cmpd="sng">
                      <a:solidFill>
                        <a:srgbClr val="37DCF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62235"/>
                    </a:solidFill>
                  </a:tcPr>
                </a:tc>
              </a:tr>
              <a:tr h="1189990">
                <a:tc>
                  <a:txBody>
                    <a:bodyPr/>
                    <a:lstStyle/>
                    <a:p>
                      <a:pPr algn="l">
                        <a:lnSpc>
                          <a:spcPct val="162000"/>
                        </a:lnSpc>
                        <a:buNone/>
                      </a:pPr>
                      <a: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41275" cmpd="sng">
                      <a:solidFill>
                        <a:srgbClr val="37DCF2"/>
                      </a:solidFill>
                      <a:prstDash val="solid"/>
                    </a:lnL>
                    <a:lnR w="41275" cmpd="sng">
                      <a:solidFill>
                        <a:srgbClr val="37DCF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5"/>
                    </a:solidFill>
                  </a:tcPr>
                </a:tc>
              </a:tr>
              <a:tr h="1181735">
                <a:tc>
                  <a:txBody>
                    <a:bodyPr/>
                    <a:lstStyle/>
                    <a:p>
                      <a:pPr algn="l">
                        <a:lnSpc>
                          <a:spcPct val="156000"/>
                        </a:lnSpc>
                        <a:buNone/>
                      </a:pPr>
                      <a: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41275" cmpd="sng">
                      <a:solidFill>
                        <a:srgbClr val="37DCF2"/>
                      </a:solidFill>
                      <a:prstDash val="solid"/>
                    </a:lnL>
                    <a:lnR w="41275" cmpd="sng">
                      <a:solidFill>
                        <a:srgbClr val="37DCF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5"/>
                    </a:solidFill>
                  </a:tcPr>
                </a:tc>
              </a:tr>
              <a:tr h="2371725">
                <a:tc>
                  <a:txBody>
                    <a:bodyPr/>
                    <a:lstStyle/>
                    <a:p>
                      <a:pPr algn="l">
                        <a:lnSpc>
                          <a:spcPct val="156000"/>
                        </a:lnSpc>
                        <a:buNone/>
                      </a:pPr>
                      <a: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41275" cmpd="sng">
                      <a:solidFill>
                        <a:srgbClr val="37DCF2"/>
                      </a:solidFill>
                      <a:prstDash val="solid"/>
                    </a:lnL>
                    <a:lnR w="41275" cmpd="sng">
                      <a:solidFill>
                        <a:srgbClr val="37DCF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9" name="table 282"/>
          <p:cNvGraphicFramePr/>
          <p:nvPr/>
        </p:nvGraphicFramePr>
        <p:xfrm>
          <a:off xmlns:a="http://schemas.openxmlformats.org/drawingml/2006/main" x="6296025" y="-280035"/>
          <a:ext xmlns:a="http://schemas.openxmlformats.org/drawingml/2006/main" cx="5228590" cy="596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03390"/>
                <a:gridCol w="25200"/>
              </a:tblGrid>
              <a:tr h="596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41275" cmpd="sng">
                      <a:solidFill>
                        <a:srgbClr val="37DCF2"/>
                      </a:solidFill>
                      <a:prstDash val="solid"/>
                    </a:lnL>
                    <a:lnR w="12700" cmpd="sng">
                      <a:solidFill>
                        <a:srgbClr val="37DCF2"/>
                      </a:solidFill>
                      <a:prstDash val="solid"/>
                    </a:lnR>
                    <a:lnT w="41275" cmpd="sng">
                      <a:solidFill>
                        <a:srgbClr val="37DCF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622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mpd="sng">
                      <a:solidFill>
                        <a:srgbClr val="37DCF2"/>
                      </a:solidFill>
                      <a:prstDash val="solid"/>
                    </a:lnL>
                    <a:lnR w="41275" cmpd="sng">
                      <a:solidFill>
                        <a:srgbClr val="37DCF2"/>
                      </a:solidFill>
                      <a:prstDash val="solid"/>
                    </a:lnR>
                    <a:lnT w="41275" cmpd="sng">
                      <a:solidFill>
                        <a:srgbClr val="37DCF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162235"/>
                    </a:solidFill>
                  </a:tcPr>
                </a:tc>
              </a:tr>
            </a:tbl>
          </a:graphicData>
        </a:graphic>
      </p:graphicFrame>
      <p:sp>
        <p:nvSpPr>
          <p:cNvPr id="300" name="textbox 300">
            <a:extLst xmlns:a="http://schemas.openxmlformats.org/drawingml/2006/main">
              <a:ext uri="{FF2B5EF4-FFF2-40B4-BE49-F238E27FC236}">
                <a16:creationId xmlns:a16="http://schemas.microsoft.com/office/drawing/2014/main" id="{DB10EF24-DB0D-4725-8416-B3516734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87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REFLECTION &amp; OUTLOOK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                                                                                                      07 / 08</a:t>
            </a:r>
          </a:p>
        </p:txBody>
      </p:sp>
      <p:pic>
        <p:nvPicPr>
          <p:cNvPr id="341" name="picture 3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4397f0bf46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61" y="-1157330"/>
            <a:ext cx="1888441" cy="371605"/>
          </a:xfrm>
          <a:prstGeom xmlns:a="http://schemas.openxmlformats.org/drawingml/2006/main" prst="rect">
            <a:avLst/>
          </a:prstGeom>
        </p:spPr>
      </p:pic>
      <p:pic>
        <p:nvPicPr>
          <p:cNvPr id="342" name="picture 3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ac27519c245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429375" y="1128395"/>
            <a:ext cx="114300" cy="3714750"/>
          </a:xfrm>
          <a:prstGeom xmlns:a="http://schemas.openxmlformats.org/drawingml/2006/main" prst="rect">
            <a:avLst/>
          </a:prstGeom>
        </p:spPr>
      </p:pic>
      <p:sp>
        <p:nvSpPr>
          <p:cNvPr id="306" name="textbox 306">
            <a:extLst xmlns:a="http://schemas.openxmlformats.org/drawingml/2006/main">
              <a:ext uri="{FF2B5EF4-FFF2-40B4-BE49-F238E27FC236}">
                <a16:creationId xmlns:a16="http://schemas.microsoft.com/office/drawing/2014/main" id="{20D643A7-50DA-4761-B9F4-EA3DE92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641" y="4771504"/>
            <a:ext cx="364490" cy="791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</a:pPr>
            <a:endParaRPr sz="90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44" name="picture 3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aa1b8ded2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666750" y="-338455"/>
            <a:ext cx="10858500" cy="9525"/>
          </a:xfrm>
          <a:prstGeom xmlns:a="http://schemas.openxmlformats.org/drawingml/2006/main" prst="rect">
            <a:avLst/>
          </a:prstGeom>
        </p:spPr>
      </p:pic>
      <p:pic>
        <p:nvPicPr>
          <p:cNvPr id="345" name="picture 3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bf6d99d42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14400" y="1128395"/>
            <a:ext cx="57150" cy="990600"/>
          </a:xfrm>
          <a:prstGeom xmlns:a="http://schemas.openxmlformats.org/drawingml/2006/main" prst="rect">
            <a:avLst/>
          </a:prstGeom>
        </p:spPr>
      </p:pic>
      <p:pic>
        <p:nvPicPr>
          <p:cNvPr id="346" name="picture 3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bf6d99d42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14400" y="3490595"/>
            <a:ext cx="57150" cy="990599"/>
          </a:xfrm>
          <a:prstGeom xmlns:a="http://schemas.openxmlformats.org/drawingml/2006/main" prst="rect">
            <a:avLst/>
          </a:prstGeom>
        </p:spPr>
      </p:pic>
      <p:pic>
        <p:nvPicPr>
          <p:cNvPr id="347" name="picture 3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bf6d99d42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14400" y="2309495"/>
            <a:ext cx="57150" cy="990599"/>
          </a:xfrm>
          <a:prstGeom xmlns:a="http://schemas.openxmlformats.org/drawingml/2006/main" prst="rect">
            <a:avLst/>
          </a:prstGeom>
        </p:spPr>
      </p:pic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F7987885-1E79-48D6-9E34-BC5182B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问题反思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14E3932-01C6-4C03-A245-564E179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990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未来展望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3B2C9DE-6369-43E6-8CDD-3B40620F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83F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19EA609-C1F2-487F-BE71-5537D48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90675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4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数据边界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类核心缺素可覆盖常见症状，但品种、生育期和区域差异仍需扩充。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4EB405FA-D37F-4CB0-809B-1F4C330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83F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1AD3F03A-116D-4F93-98C5-DDF5A9D0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47975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4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模型边界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当前以可解释本地检索为主，图片识别与多轮对话尚未成为默认能力。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2B4DD1C-992E-45DA-BCBA-1783C32E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83F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81D4666-40A5-415B-8917-C9BE2CB7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05275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4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推广边界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建议不能替代测土配方，必须由当地农技人员复核后执行。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B740846-C244-4D59-B9FC-4F03A2FF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66850"/>
            <a:ext cx="4476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C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716B06FF-5492-49C3-BDD2-F3BB2DD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90675"/>
            <a:ext cx="4057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4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图像辅助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增加叶片图片上传，提取叶色、叶位与斑型，与文本证据共同排序。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EC1C528-8303-4669-B0A7-B5EF4E2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4476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C"/>
          </a:solidFill>
          <a:ln xmlns:a="http://schemas.openxmlformats.org/drawingml/2006/main" w="9525">
            <a:solidFill>
              <a:srgbClr val="37DCF2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A1D12479-655E-42E8-94F0-3D6492B1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47975"/>
            <a:ext cx="4057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4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知识库扩容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按作物和区域扩充条目，保留来源与版本，支持增量审核。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9334FD37-084A-48F6-88C4-041AEB6B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476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C"/>
          </a:solidFill>
          <a:ln xmlns:a="http://schemas.openxmlformats.org/drawingml/2006/main" w="9525">
            <a:solidFill>
              <a:srgbClr val="C9ED7A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E8279E7-713A-45A8-9DD2-B811E75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05275"/>
            <a:ext cx="4057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4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风险模型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积累匿名查询与田间反馈，细化土壤、气候和生育期权重。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82F4834-A09A-4E31-AF11-A91C8738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45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下一步目标  </a:t>
            </a:r>
            <a:r>
              <a:rPr sz="92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在保持离线可演示的前提下，逐步增强图片识别、知识库规模与风险模型。</a:t>
            </a:r>
          </a:p>
        </p:txBody>
      </p:sp>
    </p:spTree>
    <p:extLst>
      <p:ext uri="{BB962C8B-B14F-4D97-AF65-F5344CB8AC3E}">
        <p14:creationId xmlns:p14="http://schemas.microsoft.com/office/powerpoint/2010/main" val="18564763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rect 332">
            <a:extLst xmlns:a="http://schemas.openxmlformats.org/drawingml/2006/main">
              <a:ext uri="{FF2B5EF4-FFF2-40B4-BE49-F238E27FC236}">
                <a16:creationId xmlns:a16="http://schemas.microsoft.com/office/drawing/2014/main" id="{44FEE487-8949-40E3-8C74-A0C3756E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108"/>
            <a:ext cx="12380976" cy="722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5">
              <a:alpha val="10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60" name="picture 3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8127d2bfc4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10477500" y="387858"/>
            <a:ext cx="1428750" cy="9525"/>
          </a:xfrm>
          <a:prstGeom xmlns:a="http://schemas.openxmlformats.org/drawingml/2006/main" prst="rect">
            <a:avLst/>
          </a:prstGeom>
        </p:spPr>
      </p:pic>
      <p:pic>
        <p:nvPicPr>
          <p:cNvPr id="361" name="picture 3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ac732743b4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11896725" y="387858"/>
            <a:ext cx="9525" cy="1428749"/>
          </a:xfrm>
          <a:prstGeom xmlns:a="http://schemas.openxmlformats.org/drawingml/2006/main" prst="rect">
            <a:avLst/>
          </a:prstGeom>
        </p:spPr>
      </p:pic>
      <p:sp>
        <p:nvSpPr>
          <p:cNvPr id="338" name="textbox 338">
            <a:extLst xmlns:a="http://schemas.openxmlformats.org/drawingml/2006/main">
              <a:ext uri="{FF2B5EF4-FFF2-40B4-BE49-F238E27FC236}">
                <a16:creationId xmlns:a16="http://schemas.microsoft.com/office/drawing/2014/main" id="{AF908839-68D5-4D34-B6B8-10E95C69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616" y="428307"/>
            <a:ext cx="3793490" cy="6349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spcAft>
                <a:spcPts val="10"/>
              </a:spcAft>
              <a:buNone/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/ 08</a:t>
            </a:r>
          </a:p>
          <a:p xmlns:a="http://schemas.openxmlformats.org/drawingml/2006/main">
            <a:pPr algn="r">
              <a:lnSpc>
                <a:spcPct val="116000"/>
              </a:lnSpc>
              <a:spcAft>
                <a:spcPts val="0"/>
              </a:spcAft>
              <a:buNone/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欢迎提问与交流</a:t>
            </a:r>
          </a:p>
        </p:txBody>
      </p:sp>
      <p:pic>
        <p:nvPicPr>
          <p:cNvPr id="363" name="picture 3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ee7d45b9e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8160696" y="5577840"/>
            <a:ext cx="190194" cy="230885"/>
          </a:xfrm>
          <a:prstGeom xmlns:a="http://schemas.openxmlformats.org/drawingml/2006/main" prst="rect">
            <a:avLst/>
          </a:prstGeom>
        </p:spPr>
      </p:pic>
      <p:pic>
        <p:nvPicPr>
          <p:cNvPr id="364" name="picture 3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c811c505b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4241800" y="1686673"/>
            <a:ext cx="3721100" cy="3714222"/>
          </a:xfrm>
          <a:prstGeom xmlns:a="http://schemas.openxmlformats.org/drawingml/2006/main" prst="rect">
            <a:avLst/>
          </a:prstGeom>
        </p:spPr>
      </p:pic>
      <p:pic>
        <p:nvPicPr>
          <p:cNvPr id="365" name="picture 3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5d4624b304e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4191000" y="1254633"/>
            <a:ext cx="3810000" cy="4176712"/>
          </a:xfrm>
          <a:prstGeom xmlns:a="http://schemas.openxmlformats.org/drawingml/2006/main" prst="rect">
            <a:avLst/>
          </a:prstGeom>
        </p:spPr>
      </p:pic>
      <p:sp>
        <p:nvSpPr>
          <p:cNvPr id="346" name="textbox 346">
            <a:extLst xmlns:a="http://schemas.openxmlformats.org/drawingml/2006/main">
              <a:ext uri="{FF2B5EF4-FFF2-40B4-BE49-F238E27FC236}">
                <a16:creationId xmlns:a16="http://schemas.microsoft.com/office/drawing/2014/main" id="{9D9D69BA-FFCD-40A2-B6B0-923BA2E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758" y="2524912"/>
            <a:ext cx="3650615" cy="2272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THANK YOU FOR YOUR ATTENTION</a:t>
            </a:r>
          </a:p>
          <a:p xmlns:a="http://schemas.openxmlformats.org/drawingml/2006/main">
            <a:pPr algn="ctr">
              <a:lnSpc>
                <a:spcPct val="116000"/>
              </a:lnSpc>
              <a:spcAft>
                <a:spcPts val="3"/>
              </a:spcAft>
              <a:buNone/>
              <a:def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禾诊 · 农作物缺素症智能体</a:t>
            </a:r>
          </a:p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第五组 · 五人团队</a:t>
            </a:r>
          </a:p>
        </p:txBody>
      </p:sp>
      <p:pic>
        <p:nvPicPr>
          <p:cNvPr id="367" name="picture 3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5cb61e133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285750" y="5245608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350" name="textbox 350">
            <a:extLst xmlns:a="http://schemas.openxmlformats.org/drawingml/2006/main">
              <a:ext uri="{FF2B5EF4-FFF2-40B4-BE49-F238E27FC236}">
                <a16:creationId xmlns:a16="http://schemas.microsoft.com/office/drawing/2014/main" id="{148E1388-1F14-4594-8EE6-4DFD626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260" y="5565140"/>
            <a:ext cx="5183504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spcAft>
                <a:spcPts val="0"/>
              </a:spcAft>
              <a:buNone/>
              <a:def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本地 RAG  ·  可解释证据  ·  可离线演示</a:t>
            </a:r>
          </a:p>
        </p:txBody>
      </p:sp>
      <p:pic>
        <p:nvPicPr>
          <p:cNvPr id="369" name="picture 3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7800d6da349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5429250" y="3502533"/>
            <a:ext cx="1333500" cy="76200"/>
          </a:xfrm>
          <a:prstGeom xmlns:a="http://schemas.openxmlformats.org/drawingml/2006/main" prst="rect">
            <a:avLst/>
          </a:prstGeom>
        </p:spPr>
      </p:pic>
      <p:pic>
        <p:nvPicPr>
          <p:cNvPr id="370" name="picture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ca9fa67204d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588500" y="102108"/>
            <a:ext cx="2603500" cy="21025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209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05000"/>
                <a:satMod val="110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9000"/>
                <a:sat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4000"/>
                <a:lumMod val="102000"/>
                <a:satMod val="103000"/>
              </a:schemeClr>
            </a:gs>
            <a:gs pos="50000">
              <a:schemeClr val="phClr">
                <a:tint val="100000"/>
                <a:lumMod val="110000"/>
                <a:satMod val="10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2026-10-21T01:49:45.9860000Z</dcterms:created>
  <dcterms:modified xsi:type="dcterms:W3CDTF">2026-10-21T01:49:45.9860000Z</dcterms:modified>
</coreProperties>
</file>